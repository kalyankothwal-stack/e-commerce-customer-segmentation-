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64" r:id="rId3"/>
    <p:sldId id="259" r:id="rId4"/>
    <p:sldId id="301" r:id="rId5"/>
    <p:sldId id="313" r:id="rId6"/>
    <p:sldId id="303" r:id="rId7"/>
    <p:sldId id="302" r:id="rId8"/>
    <p:sldId id="271" r:id="rId9"/>
    <p:sldId id="304" r:id="rId10"/>
    <p:sldId id="311" r:id="rId11"/>
    <p:sldId id="310" r:id="rId12"/>
    <p:sldId id="309" r:id="rId13"/>
    <p:sldId id="308" r:id="rId14"/>
    <p:sldId id="307" r:id="rId15"/>
    <p:sldId id="306" r:id="rId16"/>
    <p:sldId id="305" r:id="rId17"/>
    <p:sldId id="312" r:id="rId18"/>
    <p:sldId id="320" r:id="rId19"/>
    <p:sldId id="336" r:id="rId20"/>
    <p:sldId id="335" r:id="rId21"/>
    <p:sldId id="334" r:id="rId22"/>
    <p:sldId id="333" r:id="rId23"/>
    <p:sldId id="332" r:id="rId24"/>
    <p:sldId id="331" r:id="rId25"/>
    <p:sldId id="330" r:id="rId26"/>
    <p:sldId id="329" r:id="rId27"/>
    <p:sldId id="328" r:id="rId28"/>
    <p:sldId id="327" r:id="rId29"/>
    <p:sldId id="326" r:id="rId30"/>
    <p:sldId id="325" r:id="rId31"/>
    <p:sldId id="324" r:id="rId32"/>
    <p:sldId id="262" r:id="rId33"/>
    <p:sldId id="263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4" d="100"/>
          <a:sy n="74" d="100"/>
        </p:scale>
        <p:origin x="37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17474-BBB8-4C30-996B-FF4B23D305B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2DBAD-6C1D-420A-8F4B-EB1DA7496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33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2DBAD-6C1D-420A-8F4B-EB1DA74966D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36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2DBAD-6C1D-420A-8F4B-EB1DA74966D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66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2DBAD-6C1D-420A-8F4B-EB1DA74966D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517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6750" y="588644"/>
            <a:ext cx="821690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04717" y="6123420"/>
            <a:ext cx="1998567" cy="5357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50" y="588644"/>
            <a:ext cx="1380489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6750" y="6215246"/>
            <a:ext cx="7212965" cy="362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KALYAN1188/E-Commerce_Customer_Segmentation" TargetMode="Externa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7997"/>
            <a:chOff x="0" y="0"/>
            <a:chExt cx="12192000" cy="685799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9487" y="2719387"/>
              <a:ext cx="5153025" cy="14192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device&#10;&#10;Description automatically generated">
            <a:extLst>
              <a:ext uri="{FF2B5EF4-FFF2-40B4-BE49-F238E27FC236}">
                <a16:creationId xmlns:a16="http://schemas.microsoft.com/office/drawing/2014/main" id="{8F93E05D-9F80-2CFE-A92B-BC018DE209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1" r="28864"/>
          <a:stretch/>
        </p:blipFill>
        <p:spPr>
          <a:xfrm>
            <a:off x="7032919" y="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7710A-6026-72FA-16FE-EF7DDF382D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7690" y="6227099"/>
            <a:ext cx="1785976" cy="462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664583-B094-3043-372F-118470E6CD55}"/>
              </a:ext>
            </a:extLst>
          </p:cNvPr>
          <p:cNvSpPr txBox="1"/>
          <p:nvPr/>
        </p:nvSpPr>
        <p:spPr>
          <a:xfrm>
            <a:off x="117345" y="152400"/>
            <a:ext cx="7070213" cy="2123658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Rockwell" panose="02060603020205020403" pitchFamily="18" charset="0"/>
              </a:rPr>
              <a:t>E-commerce Customer Segmentation and 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0D113-9FD9-823E-520D-9F664610F6C2}"/>
              </a:ext>
            </a:extLst>
          </p:cNvPr>
          <p:cNvSpPr txBox="1"/>
          <p:nvPr/>
        </p:nvSpPr>
        <p:spPr>
          <a:xfrm>
            <a:off x="129537" y="3282082"/>
            <a:ext cx="66680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“This project implements an advanced customer segmentation system for e-commerce businesses using unsupervised machine learning techniques. The goal is to identify distinct customer groups based on purchasing behavior, enabling targeted marketing strategies and personalized customer experiences.”</a:t>
            </a:r>
            <a:endParaRPr lang="en-IN" sz="2400" dirty="0">
              <a:solidFill>
                <a:schemeClr val="tx2"/>
              </a:solidFill>
              <a:latin typeface="Rockwell" panose="020606030202050204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55383-2FBB-592B-B1CC-4375978EAC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793698"/>
            <a:ext cx="4762500" cy="4762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5268B2-30F4-0D1F-F7CF-243586141B7F}"/>
              </a:ext>
            </a:extLst>
          </p:cNvPr>
          <p:cNvSpPr txBox="1"/>
          <p:nvPr/>
        </p:nvSpPr>
        <p:spPr>
          <a:xfrm>
            <a:off x="3676893" y="6293127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Rockwell" panose="02060603020205020403" pitchFamily="18" charset="0"/>
              </a:rPr>
              <a:t>Presented By K.SAI KALYAN</a:t>
            </a:r>
            <a:endParaRPr lang="en-IN" sz="2000" dirty="0">
              <a:solidFill>
                <a:schemeClr val="tx2"/>
              </a:solidFill>
              <a:latin typeface="Rockwell" panose="02060603020205020403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6817D-9FAB-0670-827C-F305BE5CB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37" y="2634347"/>
            <a:ext cx="3769272" cy="430887"/>
          </a:xfrm>
        </p:spPr>
        <p:txBody>
          <a:bodyPr/>
          <a:lstStyle/>
          <a:p>
            <a:r>
              <a:rPr lang="en-US" sz="2800" dirty="0">
                <a:solidFill>
                  <a:schemeClr val="tx2"/>
                </a:solidFill>
                <a:latin typeface="Rockwell" panose="02060603020205020403" pitchFamily="18" charset="0"/>
              </a:rPr>
              <a:t>Project Objective:</a:t>
            </a:r>
            <a:endParaRPr lang="en-IN" sz="2800" dirty="0">
              <a:solidFill>
                <a:schemeClr val="tx2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4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D237D-EB4B-EF14-60F4-6F19D657D9AC}"/>
              </a:ext>
            </a:extLst>
          </p:cNvPr>
          <p:cNvSpPr txBox="1"/>
          <p:nvPr/>
        </p:nvSpPr>
        <p:spPr>
          <a:xfrm>
            <a:off x="1295400" y="586993"/>
            <a:ext cx="6248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2"/>
              </a:solidFill>
              <a:latin typeface="Rockwell" panose="02060603020205020403" pitchFamily="18" charset="0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Introduction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Dataset Overview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Data Cleaning Process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Exploratory Data Analysis (EDA)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RFM Model Overview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RFM Calculation 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Outlier Analysis 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 Data Preparation for Clustering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Clustering Model Selection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Final Clustering Models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Clustering Analysis &amp; Profiling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Cluster Prediction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Rockwell" panose="020606030202050204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AABF0-1260-078E-516A-6CF1863A66FA}"/>
              </a:ext>
            </a:extLst>
          </p:cNvPr>
          <p:cNvSpPr txBox="1"/>
          <p:nvPr/>
        </p:nvSpPr>
        <p:spPr>
          <a:xfrm>
            <a:off x="485521" y="284603"/>
            <a:ext cx="1828800" cy="60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330" b="1" spc="-10" dirty="0">
                <a:solidFill>
                  <a:schemeClr val="tx2"/>
                </a:solidFill>
                <a:latin typeface="+mj-lt"/>
              </a:rPr>
              <a:t>Agenda</a:t>
            </a:r>
            <a:r>
              <a:rPr lang="en-IN" b="1" spc="-10" dirty="0">
                <a:solidFill>
                  <a:schemeClr val="tx2"/>
                </a:solidFill>
              </a:rPr>
              <a:t> : 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AFD5BA-EAEE-E2B6-BEB9-00664C2EEEB3}"/>
              </a:ext>
            </a:extLst>
          </p:cNvPr>
          <p:cNvSpPr txBox="1"/>
          <p:nvPr/>
        </p:nvSpPr>
        <p:spPr>
          <a:xfrm>
            <a:off x="7162800" y="889384"/>
            <a:ext cx="541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Business Recommendations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Model Performance Summary</a:t>
            </a: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2"/>
                </a:solidFill>
                <a:latin typeface="Rockwell" panose="02060603020205020403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F29853F-CB06-DDB7-C370-B71478536EF8}"/>
              </a:ext>
            </a:extLst>
          </p:cNvPr>
          <p:cNvSpPr txBox="1">
            <a:spLocks/>
          </p:cNvSpPr>
          <p:nvPr/>
        </p:nvSpPr>
        <p:spPr>
          <a:xfrm>
            <a:off x="6695124" y="665157"/>
            <a:ext cx="5036504" cy="17373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01. Data Gathering and Reading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66503-1FB7-DC12-15C4-9BD6A46915C4}"/>
              </a:ext>
            </a:extLst>
          </p:cNvPr>
          <p:cNvSpPr/>
          <p:nvPr/>
        </p:nvSpPr>
        <p:spPr>
          <a:xfrm>
            <a:off x="0" y="0"/>
            <a:ext cx="6248400" cy="6858000"/>
          </a:xfrm>
          <a:prstGeom prst="rect">
            <a:avLst/>
          </a:prstGeom>
          <a:solidFill>
            <a:srgbClr val="0F253E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1B8831-7AF5-14FB-8067-95DEE01B1051}"/>
              </a:ext>
            </a:extLst>
          </p:cNvPr>
          <p:cNvSpPr txBox="1">
            <a:spLocks/>
          </p:cNvSpPr>
          <p:nvPr/>
        </p:nvSpPr>
        <p:spPr>
          <a:xfrm>
            <a:off x="570580" y="921062"/>
            <a:ext cx="5107239" cy="6127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Data Overview: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E6CF2-3322-E5E1-0724-5C8048C96910}"/>
              </a:ext>
            </a:extLst>
          </p:cNvPr>
          <p:cNvSpPr txBox="1"/>
          <p:nvPr/>
        </p:nvSpPr>
        <p:spPr>
          <a:xfrm>
            <a:off x="1159105" y="1609947"/>
            <a:ext cx="5536019" cy="4736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InvoiceNo</a:t>
            </a: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StockCode</a:t>
            </a: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 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InvoiceDate</a:t>
            </a: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UnitPrice</a:t>
            </a: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l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5F204A-944B-2544-995E-624354B89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5400" y="2057400"/>
            <a:ext cx="6931028" cy="36597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721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24A82-4B4D-5132-A1DE-5EC78A2E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2D0BA04-DE9A-AC1D-FC00-9CE413B5E337}"/>
              </a:ext>
            </a:extLst>
          </p:cNvPr>
          <p:cNvSpPr txBox="1"/>
          <p:nvPr/>
        </p:nvSpPr>
        <p:spPr>
          <a:xfrm>
            <a:off x="2564023" y="59470"/>
            <a:ext cx="60988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latin typeface="+mj-lt"/>
              </a:rPr>
              <a:t>DATA CLEANING &amp; PREPROCESSING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54B0B-3727-CC3B-2D58-568B52B5CB0E}"/>
              </a:ext>
            </a:extLst>
          </p:cNvPr>
          <p:cNvSpPr txBox="1"/>
          <p:nvPr/>
        </p:nvSpPr>
        <p:spPr>
          <a:xfrm>
            <a:off x="381000" y="1096520"/>
            <a:ext cx="4267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j-lt"/>
              </a:rPr>
              <a:t>Data Quality Enhancement</a:t>
            </a:r>
          </a:p>
          <a:p>
            <a:pPr>
              <a:buNone/>
            </a:pPr>
            <a:r>
              <a:rPr lang="en-US" sz="2000" dirty="0">
                <a:solidFill>
                  <a:schemeClr val="tx2"/>
                </a:solidFill>
                <a:latin typeface="+mj-lt"/>
              </a:rPr>
              <a:t>   Cleaning Steps Executed:</a:t>
            </a:r>
          </a:p>
          <a:p>
            <a:pPr marL="342900" indent="-342900" algn="just">
              <a:buAutoNum type="arabicPeriod"/>
            </a:pPr>
            <a:r>
              <a:rPr lang="en-US" sz="2000" dirty="0">
                <a:solidFill>
                  <a:schemeClr val="tx2"/>
                </a:solidFill>
                <a:latin typeface="+mj-lt"/>
              </a:rPr>
              <a:t>Missing Value Removal</a:t>
            </a:r>
            <a:r>
              <a:rPr lang="en-US" sz="2000" b="1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marL="342900" indent="-342900" algn="just">
              <a:buAutoNum type="arabicPeriod"/>
            </a:pPr>
            <a:r>
              <a:rPr lang="en-IN" sz="2000" dirty="0">
                <a:solidFill>
                  <a:schemeClr val="tx2"/>
                </a:solidFill>
                <a:latin typeface="+mj-lt"/>
              </a:rPr>
              <a:t>Duplicate Record Removal:</a:t>
            </a:r>
          </a:p>
          <a:p>
            <a:pPr marL="342900" indent="-342900" algn="just">
              <a:buAutoNum type="arabicPeriod"/>
            </a:pPr>
            <a:r>
              <a:rPr lang="en-IN" sz="2000" dirty="0">
                <a:solidFill>
                  <a:schemeClr val="tx2"/>
                </a:solidFill>
                <a:latin typeface="+mj-lt"/>
              </a:rPr>
              <a:t>Data Type Conversions:</a:t>
            </a:r>
          </a:p>
          <a:p>
            <a:pPr marL="342900" indent="-342900" algn="just">
              <a:buAutoNum type="arabicPeriod"/>
            </a:pPr>
            <a:r>
              <a:rPr lang="en-IN" sz="2000" dirty="0">
                <a:solidFill>
                  <a:schemeClr val="tx2"/>
                </a:solidFill>
                <a:latin typeface="+mj-lt"/>
              </a:rPr>
              <a:t>Return Transaction Separation:</a:t>
            </a:r>
          </a:p>
          <a:p>
            <a:pPr marL="342900" indent="-342900" algn="just">
              <a:buAutoNum type="arabicPeriod"/>
            </a:pPr>
            <a:r>
              <a:rPr lang="en-IN" sz="2000" dirty="0">
                <a:solidFill>
                  <a:schemeClr val="tx2"/>
                </a:solidFill>
                <a:latin typeface="+mj-lt"/>
              </a:rPr>
              <a:t>Data Validation:</a:t>
            </a:r>
          </a:p>
          <a:p>
            <a:pPr marL="342900" indent="-342900" algn="just">
              <a:buAutoNum type="arabicPeriod"/>
            </a:pPr>
            <a:endParaRPr lang="en-IN" sz="2000" dirty="0">
              <a:solidFill>
                <a:schemeClr val="tx2"/>
              </a:solidFill>
              <a:latin typeface="+mj-lt"/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D6B9C-AD4E-1ACB-EB82-7E1D55DCB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46038"/>
            <a:ext cx="5113667" cy="28310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611D8B-B612-D856-88E2-95A8C63EA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57969"/>
            <a:ext cx="3468502" cy="27249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FD7AB8-C8E4-2E2C-8664-608931E12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277" y="3842788"/>
            <a:ext cx="4878122" cy="27249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049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D802-D64C-5583-AB65-7172592B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57BD67-36F4-8D06-2FB8-E7E2FC9B7E56}"/>
              </a:ext>
            </a:extLst>
          </p:cNvPr>
          <p:cNvSpPr txBox="1"/>
          <p:nvPr/>
        </p:nvSpPr>
        <p:spPr>
          <a:xfrm>
            <a:off x="3046476" y="82564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latin typeface="+mj-lt"/>
              </a:rPr>
              <a:t>PRODUCT CATEGORIZATION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5A3B6-0798-FB48-D52A-79840575C8A1}"/>
              </a:ext>
            </a:extLst>
          </p:cNvPr>
          <p:cNvSpPr txBox="1"/>
          <p:nvPr/>
        </p:nvSpPr>
        <p:spPr>
          <a:xfrm>
            <a:off x="228600" y="685800"/>
            <a:ext cx="61722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Advanced Product Classification System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Category Taxonomy Created: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Developed a comprehensive system grouping 3,000+ unique products into 13 business categories: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Electronics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Kitchen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Crockery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Home Decor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Furniture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Bags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Stationery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Seasonal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Toys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Textiles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Storage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Accessories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Garden &amp; Outdoor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F8F88C-3C58-1904-6D30-B91439B34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1755046"/>
            <a:ext cx="8686800" cy="42552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848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3BFA-1B9C-03BC-5677-ED05A280A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6AB64ED6-49A8-FE6D-E051-8B7E98BDA3F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D776F-778E-B245-7C47-24D13B22FACC}"/>
              </a:ext>
            </a:extLst>
          </p:cNvPr>
          <p:cNvSpPr txBox="1"/>
          <p:nvPr/>
        </p:nvSpPr>
        <p:spPr>
          <a:xfrm>
            <a:off x="21588" y="152400"/>
            <a:ext cx="116370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+mj-lt"/>
              </a:rPr>
              <a:t>EXPLORATORY DATA ANALYSIS - REVENUE INSIGHTS</a:t>
            </a:r>
            <a:endParaRPr lang="en-IN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AECB6-E5E3-7754-71F7-4432F24BD42D}"/>
              </a:ext>
            </a:extLst>
          </p:cNvPr>
          <p:cNvSpPr txBox="1"/>
          <p:nvPr/>
        </p:nvSpPr>
        <p:spPr>
          <a:xfrm>
            <a:off x="364234" y="1426668"/>
            <a:ext cx="55031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Overall Revenue Metrics:</a:t>
            </a:r>
          </a:p>
          <a:p>
            <a:pPr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Gross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£8,887,208.89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£8,278,519.42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Losses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£608,689.47 (difference between the two)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Average Transaction Value:</a:t>
            </a:r>
            <a:r>
              <a:rPr lang="en-US" sz="2000" dirty="0">
                <a:solidFill>
                  <a:schemeClr val="tx2"/>
                </a:solidFill>
              </a:rPr>
              <a:t> £373.14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Gross Quantity Sold:</a:t>
            </a:r>
            <a:r>
              <a:rPr lang="en-US" sz="2000" dirty="0">
                <a:solidFill>
                  <a:schemeClr val="tx2"/>
                </a:solidFill>
              </a:rPr>
              <a:t> 5,165,886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Net Quantity Sold:</a:t>
            </a:r>
            <a:r>
              <a:rPr lang="en-US" sz="2000" dirty="0">
                <a:solidFill>
                  <a:schemeClr val="tx2"/>
                </a:solidFill>
              </a:rPr>
              <a:t> 4,878,967 items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B8EC45-4354-442B-6D5E-D148E9DBFE9B}"/>
              </a:ext>
            </a:extLst>
          </p:cNvPr>
          <p:cNvSpPr txBox="1"/>
          <p:nvPr/>
        </p:nvSpPr>
        <p:spPr>
          <a:xfrm>
            <a:off x="6324600" y="1426668"/>
            <a:ext cx="6019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</a:rPr>
              <a:t>Key Analyses Performed:</a:t>
            </a:r>
            <a:endParaRPr lang="en-US" sz="2000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</a:rPr>
              <a:t>Top 10 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Products</a:t>
            </a:r>
            <a:r>
              <a:rPr lang="en-US" sz="2000" b="1" dirty="0">
                <a:solidFill>
                  <a:schemeClr val="tx2"/>
                </a:solidFill>
              </a:rPr>
              <a:t> by Revenue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Identified best-selling products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Revenue champions for inventory focus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</a:rPr>
              <a:t>Highest Priced Products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Premium product segment analysis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High-margin opportunities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E7C4E28-C3E0-A209-653D-E2E5BFD3F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552314"/>
            <a:ext cx="57912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3.Geographic Revenue Distribution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UK dominated revenue contribution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International expansion opportunities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4.Category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Home Decor, Kitchen, and Crockery showed strong performance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Inventory investment priorities identified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03404-3937-71A5-6D37-512848471B42}"/>
              </a:ext>
            </a:extLst>
          </p:cNvPr>
          <p:cNvSpPr txBox="1"/>
          <p:nvPr/>
        </p:nvSpPr>
        <p:spPr>
          <a:xfrm>
            <a:off x="3141707" y="681812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2"/>
                </a:solidFill>
              </a:rPr>
              <a:t>Revenue Analysis &amp; Business Performance</a:t>
            </a:r>
          </a:p>
        </p:txBody>
      </p:sp>
    </p:spTree>
    <p:extLst>
      <p:ext uri="{BB962C8B-B14F-4D97-AF65-F5344CB8AC3E}">
        <p14:creationId xmlns:p14="http://schemas.microsoft.com/office/powerpoint/2010/main" val="164786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0B21-DB26-7BD9-69A5-539D09599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572085A-80D0-AA1F-0B86-24F08F36A56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704F88-8A05-FA3B-97E5-90C45538B6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3361"/>
            <a:ext cx="11658600" cy="51006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2F4A00-362D-0D59-6A9A-03CD24BA32FB}"/>
              </a:ext>
            </a:extLst>
          </p:cNvPr>
          <p:cNvSpPr txBox="1"/>
          <p:nvPr/>
        </p:nvSpPr>
        <p:spPr>
          <a:xfrm>
            <a:off x="457200" y="5451457"/>
            <a:ext cx="11506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+mn-lt"/>
              </a:rPr>
              <a:t>Business Implications:</a:t>
            </a:r>
            <a:r>
              <a:rPr lang="en-US" sz="2400" dirty="0">
                <a:solidFill>
                  <a:schemeClr val="tx2"/>
                </a:solidFill>
                <a:latin typeface="+mn-lt"/>
              </a:rPr>
              <a:t> Data-driven decisions for inventory management, marketing budget allocation, and pricing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330006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367EF-4B59-758F-A2D5-C6C674EC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D481CE9-7573-EB75-18C5-E795AF6D35D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11B098-C235-5FA6-6EA1-A3BBEB5A46D7}"/>
              </a:ext>
            </a:extLst>
          </p:cNvPr>
          <p:cNvSpPr txBox="1"/>
          <p:nvPr/>
        </p:nvSpPr>
        <p:spPr>
          <a:xfrm>
            <a:off x="179203" y="95504"/>
            <a:ext cx="11813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tx2"/>
                </a:solidFill>
                <a:latin typeface="+mj-lt"/>
              </a:rPr>
              <a:t>RETURNS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BD0FC9-0929-FFA4-8D50-96BBE4877787}"/>
              </a:ext>
            </a:extLst>
          </p:cNvPr>
          <p:cNvSpPr txBox="1"/>
          <p:nvPr/>
        </p:nvSpPr>
        <p:spPr>
          <a:xfrm>
            <a:off x="209396" y="615884"/>
            <a:ext cx="71613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Customer Return Behavior &amp; Product Quality Insights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Return Metrics Overview: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Total Return Amount: £ -608,689.47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Customers with Returns: 1,589 unique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Return Rate: 16.47% of total transactions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B0D81A-8ECE-6DE8-9953-582C4B06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98" y="2767480"/>
            <a:ext cx="9791561" cy="22903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453307-B0A3-220A-E3D4-A097DD057C88}"/>
              </a:ext>
            </a:extLst>
          </p:cNvPr>
          <p:cNvSpPr txBox="1"/>
          <p:nvPr/>
        </p:nvSpPr>
        <p:spPr>
          <a:xfrm>
            <a:off x="179203" y="2325154"/>
            <a:ext cx="5236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Customer-Level Return Features: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60DC8-CCCD-093B-C4E3-90553032AEF9}"/>
              </a:ext>
            </a:extLst>
          </p:cNvPr>
          <p:cNvSpPr txBox="1"/>
          <p:nvPr/>
        </p:nvSpPr>
        <p:spPr>
          <a:xfrm>
            <a:off x="179203" y="5151210"/>
            <a:ext cx="4438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Return Rate Calculation: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6FA4BD3-9BAF-E9CB-11DF-E8724641C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040" y="5650784"/>
            <a:ext cx="10050278" cy="77163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059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CC0D-BD03-137A-3B29-6716AEAA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1CB5CCB-63EE-6A14-B351-9A584F1494B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6062F7-3C4E-4386-2126-8FF0CF1727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413" y="583447"/>
            <a:ext cx="7724187" cy="39386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D5D641-A05F-8909-EF9B-143A80BDC762}"/>
              </a:ext>
            </a:extLst>
          </p:cNvPr>
          <p:cNvSpPr txBox="1"/>
          <p:nvPr/>
        </p:nvSpPr>
        <p:spPr>
          <a:xfrm>
            <a:off x="152400" y="31359"/>
            <a:ext cx="6098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4-panel Returns Analysis visualization 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Panel 1: Monthly Returns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Panel 2: Top 10 Returned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Panel 3: Return Rate by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Panel 4: Sales vs Returns Comparison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B3A0BF-78DE-90B7-2630-25CF0394384B}"/>
              </a:ext>
            </a:extLst>
          </p:cNvPr>
          <p:cNvSpPr txBox="1"/>
          <p:nvPr/>
        </p:nvSpPr>
        <p:spPr>
          <a:xfrm>
            <a:off x="152400" y="4335561"/>
            <a:ext cx="60988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Actionable Insights: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Categories with high return rates require quality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High-return customers may represent churn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Product descriptions need enhancement to manage expectations</a:t>
            </a:r>
          </a:p>
        </p:txBody>
      </p:sp>
    </p:spTree>
    <p:extLst>
      <p:ext uri="{BB962C8B-B14F-4D97-AF65-F5344CB8AC3E}">
        <p14:creationId xmlns:p14="http://schemas.microsoft.com/office/powerpoint/2010/main" val="412724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16AB-D188-6F2C-65C3-2A7806F0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BB9AE03D-F47C-AAE0-ECF5-8ACB419F2F2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C4D0D0-76C7-AF2D-F410-54A492FD49DF}"/>
              </a:ext>
            </a:extLst>
          </p:cNvPr>
          <p:cNvSpPr txBox="1"/>
          <p:nvPr/>
        </p:nvSpPr>
        <p:spPr>
          <a:xfrm>
            <a:off x="166777" y="704079"/>
            <a:ext cx="60988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Advanced Customer Behavior Metrics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RFM Framework Foundation: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RFM (Recency, Frequency, Monetary) analysis quantifies customer value and engagement through three critical dimensions.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B3A05-DBBF-080C-2135-2628F9FCFB1F}"/>
              </a:ext>
            </a:extLst>
          </p:cNvPr>
          <p:cNvSpPr txBox="1"/>
          <p:nvPr/>
        </p:nvSpPr>
        <p:spPr>
          <a:xfrm>
            <a:off x="166777" y="2111324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Reference Date Calculation: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4D7A1C-7515-975C-4651-8C436C3B2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49" y="2396463"/>
            <a:ext cx="6858957" cy="14861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27EF4D-F1AE-1675-36CB-3CF203CBF8CA}"/>
              </a:ext>
            </a:extLst>
          </p:cNvPr>
          <p:cNvSpPr txBox="1"/>
          <p:nvPr/>
        </p:nvSpPr>
        <p:spPr>
          <a:xfrm>
            <a:off x="152400" y="3597056"/>
            <a:ext cx="6098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Core RFM Metrics Created: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Recency: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Days since last purchase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Frequency: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Total number of unique transactions</a:t>
            </a:r>
          </a:p>
          <a:p>
            <a:pPr>
              <a:buFont typeface="+mj-lt"/>
              <a:buAutoNum type="arabicPeriod"/>
            </a:pPr>
            <a:r>
              <a:rPr lang="en-IN" sz="2000" b="1" dirty="0" err="1">
                <a:solidFill>
                  <a:schemeClr val="tx2"/>
                </a:solidFill>
                <a:latin typeface="+mn-lt"/>
              </a:rPr>
              <a:t>MonetaryTotal</a:t>
            </a:r>
            <a:r>
              <a:rPr lang="en-IN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Total lifetime spending</a:t>
            </a:r>
          </a:p>
          <a:p>
            <a:pPr>
              <a:buFont typeface="+mj-lt"/>
              <a:buAutoNum type="arabicPeriod"/>
            </a:pPr>
            <a:r>
              <a:rPr lang="en-IN" sz="2000" b="1" dirty="0" err="1">
                <a:solidFill>
                  <a:schemeClr val="tx2"/>
                </a:solidFill>
                <a:latin typeface="+mn-lt"/>
              </a:rPr>
              <a:t>MonetaryAvg</a:t>
            </a:r>
            <a:r>
              <a:rPr lang="en-IN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Average transaction value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1A8B80-C3F3-D7B8-6FFC-8BF87B1AF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716793"/>
            <a:ext cx="6858957" cy="16797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5840DC-8EDB-4AAB-C5AC-0C06F558D921}"/>
              </a:ext>
            </a:extLst>
          </p:cNvPr>
          <p:cNvSpPr txBox="1"/>
          <p:nvPr/>
        </p:nvSpPr>
        <p:spPr>
          <a:xfrm>
            <a:off x="1569798" y="-7313"/>
            <a:ext cx="90524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tx2"/>
                </a:solidFill>
                <a:latin typeface="+mj-lt"/>
              </a:rPr>
              <a:t>RFM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899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16EE-39F0-FD90-351B-E20A3A59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497D4EC-0976-D78E-613A-9DDB7E464AB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6905F-44F1-B793-D3B0-0B77DE32EC56}"/>
              </a:ext>
            </a:extLst>
          </p:cNvPr>
          <p:cNvSpPr txBox="1"/>
          <p:nvPr/>
        </p:nvSpPr>
        <p:spPr>
          <a:xfrm>
            <a:off x="152400" y="152400"/>
            <a:ext cx="6098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Return Behavior Integration: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ReturnFrequency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 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Number of return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ReturnQuantity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: Total items returned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ReturnAmount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 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Total monetary value of returns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ReturnRate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: Proportion of purchases returned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CC7467-9607-44E1-BE06-46FC0FC32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489" y="334058"/>
            <a:ext cx="6629400" cy="14675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E63208-6FA9-7B0F-26EE-B28BB8EC6FFC}"/>
              </a:ext>
            </a:extLst>
          </p:cNvPr>
          <p:cNvSpPr txBox="1"/>
          <p:nvPr/>
        </p:nvSpPr>
        <p:spPr>
          <a:xfrm>
            <a:off x="152400" y="2145200"/>
            <a:ext cx="6098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Additional Features: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  <a:latin typeface="+mn-lt"/>
              </a:rPr>
              <a:t>MonthlyPurchaseAmount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=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MonetaryTotal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/ 12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Handles infinite and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NaN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values in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ReturnRate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AD935-1342-D12F-31D2-4C90B2B139B0}"/>
              </a:ext>
            </a:extLst>
          </p:cNvPr>
          <p:cNvSpPr txBox="1"/>
          <p:nvPr/>
        </p:nvSpPr>
        <p:spPr>
          <a:xfrm>
            <a:off x="228600" y="3309765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Sample output of </a:t>
            </a: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rfm_data.head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()</a:t>
            </a:r>
            <a:endParaRPr lang="en-IN" sz="2000" b="1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E23754-0893-1696-DFF6-8D836B174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858777"/>
            <a:ext cx="9322812" cy="27549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22BD0E-41EF-9E9B-3EA8-E8CC0BE7D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340" y="1924463"/>
            <a:ext cx="6553200" cy="7656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7159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FFBC5-6E43-0506-47CF-D78461C0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1A88D3AF-D159-9737-55D6-90C203EF82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C02BB3-2118-AA86-D813-D6F30294A217}"/>
              </a:ext>
            </a:extLst>
          </p:cNvPr>
          <p:cNvSpPr txBox="1"/>
          <p:nvPr/>
        </p:nvSpPr>
        <p:spPr>
          <a:xfrm>
            <a:off x="227163" y="660701"/>
            <a:ext cx="6098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Comprehensive Customer Profiling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Additional Features Engineered: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1. Category Preferences: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97009F-8C20-6A49-9226-04D762D81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283993"/>
            <a:ext cx="7928146" cy="9406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27A0A-B82A-55FD-CF62-E077F2B6470A}"/>
              </a:ext>
            </a:extLst>
          </p:cNvPr>
          <p:cNvSpPr txBox="1"/>
          <p:nvPr/>
        </p:nvSpPr>
        <p:spPr>
          <a:xfrm>
            <a:off x="225007" y="2135069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2. Geographic Information: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37C1B4-D9AF-7E5C-2496-A7CC1F39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573" y="2532939"/>
            <a:ext cx="8860146" cy="7363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304313-9C4E-30D1-1629-251984A5681F}"/>
              </a:ext>
            </a:extLst>
          </p:cNvPr>
          <p:cNvSpPr txBox="1"/>
          <p:nvPr/>
        </p:nvSpPr>
        <p:spPr>
          <a:xfrm>
            <a:off x="225007" y="3429000"/>
            <a:ext cx="6098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3. Purchase Volume &amp; Frequency: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TotalQuantity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Total items purchased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PurchaseFrequencyPerMonth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Transactions per month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40D643-E01D-456E-4C1D-512785F18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445" y="4586827"/>
            <a:ext cx="8459381" cy="19910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C11CD14-AA92-64A3-502C-4D11FEE6348F}"/>
              </a:ext>
            </a:extLst>
          </p:cNvPr>
          <p:cNvSpPr txBox="1"/>
          <p:nvPr/>
        </p:nvSpPr>
        <p:spPr>
          <a:xfrm>
            <a:off x="3276600" y="-35855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tx2"/>
                </a:solidFill>
                <a:latin typeface="+mj-lt"/>
              </a:rPr>
              <a:t>ADVANCED CUSTOMER FEATURES</a:t>
            </a:r>
          </a:p>
        </p:txBody>
      </p:sp>
    </p:spTree>
    <p:extLst>
      <p:ext uri="{BB962C8B-B14F-4D97-AF65-F5344CB8AC3E}">
        <p14:creationId xmlns:p14="http://schemas.microsoft.com/office/powerpoint/2010/main" val="1788601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87D1-5FB7-B664-3452-6E2AC7BB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2EC9D75-A1F8-24D0-D2DD-DA77E76EE52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D25FE-1ED7-01F5-946D-38036316496B}"/>
              </a:ext>
            </a:extLst>
          </p:cNvPr>
          <p:cNvSpPr txBox="1"/>
          <p:nvPr/>
        </p:nvSpPr>
        <p:spPr>
          <a:xfrm>
            <a:off x="152400" y="129396"/>
            <a:ext cx="6098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4. Customer Lifetime Metrics: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FirstPurchase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 &amp; </a:t>
            </a: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LastPurchase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Transaction date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CustomerAge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Days between first and last purchase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LifetimeValue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Total revenue across lifetime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LifetimeFrequency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Total unique transactions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7FFFE9-BFFE-1E54-79E4-4E649F24C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0612"/>
            <a:ext cx="7315200" cy="21747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DABE6A-B5CA-FAA8-330F-2AB9A9137FF5}"/>
              </a:ext>
            </a:extLst>
          </p:cNvPr>
          <p:cNvSpPr txBox="1"/>
          <p:nvPr/>
        </p:nvSpPr>
        <p:spPr>
          <a:xfrm>
            <a:off x="126521" y="3987969"/>
            <a:ext cx="3828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IN" sz="2000" b="1" dirty="0" err="1">
                <a:solidFill>
                  <a:schemeClr val="tx2"/>
                </a:solidFill>
                <a:latin typeface="+mn-lt"/>
              </a:rPr>
              <a:t>Behavioral</a:t>
            </a:r>
            <a:r>
              <a:rPr lang="en-IN" sz="2000" b="1" dirty="0">
                <a:solidFill>
                  <a:schemeClr val="tx2"/>
                </a:solidFill>
                <a:latin typeface="+mn-lt"/>
              </a:rPr>
              <a:t> Segmentation Flags: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3019E5-CDD7-A17F-A0C3-56EA07793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103834"/>
            <a:ext cx="5562600" cy="26017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066B76-4D1C-8A1C-C4B2-C912C20ED975}"/>
              </a:ext>
            </a:extLst>
          </p:cNvPr>
          <p:cNvSpPr txBox="1"/>
          <p:nvPr/>
        </p:nvSpPr>
        <p:spPr>
          <a:xfrm>
            <a:off x="457200" y="4388079"/>
            <a:ext cx="4495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Feature Summary: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Total Features Created: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20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Loyal Customers Identified: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453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Frequent Buyers Identified: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346</a:t>
            </a:r>
          </a:p>
        </p:txBody>
      </p:sp>
    </p:spTree>
    <p:extLst>
      <p:ext uri="{BB962C8B-B14F-4D97-AF65-F5344CB8AC3E}">
        <p14:creationId xmlns:p14="http://schemas.microsoft.com/office/powerpoint/2010/main" val="848697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B3E87-9E3D-51DC-600B-A8B8DFBB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91ECFF1-AB08-866B-F805-749C1AE7E6C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1AA13-5117-667B-9082-1686BAF19C57}"/>
              </a:ext>
            </a:extLst>
          </p:cNvPr>
          <p:cNvSpPr txBox="1"/>
          <p:nvPr/>
        </p:nvSpPr>
        <p:spPr>
          <a:xfrm>
            <a:off x="76200" y="56072"/>
            <a:ext cx="1203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OUTLIER DETECTION &amp; REMOVAL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6614B3-BB68-84B1-6139-2DDD6F875CB9}"/>
              </a:ext>
            </a:extLst>
          </p:cNvPr>
          <p:cNvSpPr txBox="1"/>
          <p:nvPr/>
        </p:nvSpPr>
        <p:spPr>
          <a:xfrm>
            <a:off x="167621" y="661408"/>
            <a:ext cx="6098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Statistical Outlier Treatment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Why Remove Outliers?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Outliers can severely distort clustering algorithms by pulling cluster centroids toward extreme values, creating artificial segments that don't represent genuine customer groups.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DD2D1-3E97-26F2-3D5B-4935DF46BCC9}"/>
              </a:ext>
            </a:extLst>
          </p:cNvPr>
          <p:cNvSpPr txBox="1"/>
          <p:nvPr/>
        </p:nvSpPr>
        <p:spPr>
          <a:xfrm>
            <a:off x="167621" y="2193992"/>
            <a:ext cx="60988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Features Analyzed: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Recency, Frequency,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MonetaryTotal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MonetaryAvg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  <a:latin typeface="+mn-lt"/>
              </a:rPr>
              <a:t>PurchaseFrequencyPerMonth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CustomerAge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  <a:latin typeface="+mn-lt"/>
              </a:rPr>
              <a:t>TotalQuantity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IsLoyal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+mn-lt"/>
              </a:rPr>
              <a:t>ReturnRate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F8488B-7682-40EE-7B26-03B720EAAA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26" y="914741"/>
            <a:ext cx="5516953" cy="51728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62BC38-F924-CDCF-5B7D-9954CF62692E}"/>
              </a:ext>
            </a:extLst>
          </p:cNvPr>
          <p:cNvSpPr txBox="1"/>
          <p:nvPr/>
        </p:nvSpPr>
        <p:spPr>
          <a:xfrm>
            <a:off x="94891" y="3581261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Outlier Removal Strategy: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1F3D810-6C59-9D6E-01F1-EFE003680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16" y="4102038"/>
            <a:ext cx="5645184" cy="19855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2973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537D-D76C-0382-8083-53B5B675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B470C831-6012-F07F-119D-CEEB1E96E41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52831-2BF4-9333-07FB-ADB2148C514E}"/>
              </a:ext>
            </a:extLst>
          </p:cNvPr>
          <p:cNvSpPr txBox="1"/>
          <p:nvPr/>
        </p:nvSpPr>
        <p:spPr>
          <a:xfrm>
            <a:off x="228600" y="76200"/>
            <a:ext cx="60988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Results: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Before Removal: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4371 customers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After Removal: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4128 customers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Total Removed: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243 customers (5.6%)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46624-E876-EAA3-79A7-D66AB64B7DF0}"/>
              </a:ext>
            </a:extLst>
          </p:cNvPr>
          <p:cNvSpPr txBox="1"/>
          <p:nvPr/>
        </p:nvSpPr>
        <p:spPr>
          <a:xfrm>
            <a:off x="0" y="1300152"/>
            <a:ext cx="11959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DATA PREPARATION FOR CLUSTERING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BBDBC-3A85-455C-7404-BBD836771AC7}"/>
              </a:ext>
            </a:extLst>
          </p:cNvPr>
          <p:cNvSpPr txBox="1"/>
          <p:nvPr/>
        </p:nvSpPr>
        <p:spPr>
          <a:xfrm>
            <a:off x="116037" y="1848910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Feature Selection, Encoding &amp; Scaling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E91E6-1FD2-10B8-7F83-C896D6A82FF4}"/>
              </a:ext>
            </a:extLst>
          </p:cNvPr>
          <p:cNvSpPr txBox="1"/>
          <p:nvPr/>
        </p:nvSpPr>
        <p:spPr>
          <a:xfrm>
            <a:off x="228600" y="2218242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1. Feature Selection (10 Features):</a:t>
            </a:r>
            <a:endParaRPr lang="en-IN" sz="2000" b="1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4D64A4-74F7-585C-7EC3-026AF0AD1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399" y="2416817"/>
            <a:ext cx="7772664" cy="6637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BAD6DF8-F58E-B922-3D86-BD56F7EBCA93}"/>
              </a:ext>
            </a:extLst>
          </p:cNvPr>
          <p:cNvSpPr txBox="1"/>
          <p:nvPr/>
        </p:nvSpPr>
        <p:spPr>
          <a:xfrm>
            <a:off x="228600" y="2922548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2. Categorical Encoding: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4F21A88-8B1D-2930-1BD0-A2A66FE08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289511"/>
            <a:ext cx="9144000" cy="6516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26F84CD-95CC-A725-C217-5EAC633F2B26}"/>
              </a:ext>
            </a:extLst>
          </p:cNvPr>
          <p:cNvSpPr txBox="1"/>
          <p:nvPr/>
        </p:nvSpPr>
        <p:spPr>
          <a:xfrm>
            <a:off x="116037" y="4363149"/>
            <a:ext cx="51218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Feature Scaling with </a:t>
            </a: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RobustScaler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: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Why </a:t>
            </a:r>
            <a:r>
              <a:rPr lang="en-US" sz="2000" b="1" dirty="0" err="1">
                <a:solidFill>
                  <a:schemeClr val="tx2"/>
                </a:solidFill>
                <a:latin typeface="+mn-lt"/>
              </a:rPr>
              <a:t>RobustScaler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Robust to outliers (uses median &amp; IQR)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Better for skewed distributions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Preserves outlier information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FC6657F-2558-8DB3-429E-15AA01A62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21054"/>
            <a:ext cx="7259063" cy="14194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394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B653-9F91-AA32-73A7-495EE8A1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76FC1B-BB2D-F793-8585-06146DD69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82" y="111750"/>
            <a:ext cx="6324600" cy="21611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9E3CB4-72A3-18B4-7A7B-E75C0D0CB450}"/>
              </a:ext>
            </a:extLst>
          </p:cNvPr>
          <p:cNvSpPr txBox="1"/>
          <p:nvPr/>
        </p:nvSpPr>
        <p:spPr>
          <a:xfrm>
            <a:off x="173966" y="105144"/>
            <a:ext cx="60988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Output: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Scaled feature matrix (4,128 × 10)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All features normalized to comparable scales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Median = 0, IQR =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A9F13D-391D-32A5-42CB-F591CFB44AE7}"/>
              </a:ext>
            </a:extLst>
          </p:cNvPr>
          <p:cNvSpPr txBox="1"/>
          <p:nvPr/>
        </p:nvSpPr>
        <p:spPr>
          <a:xfrm>
            <a:off x="-210206" y="2391006"/>
            <a:ext cx="119756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CLUSTERING MODEL SELECTION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98A8C7-4F3C-8F47-2A4E-3CE1542FC73E}"/>
              </a:ext>
            </a:extLst>
          </p:cNvPr>
          <p:cNvSpPr txBox="1"/>
          <p:nvPr/>
        </p:nvSpPr>
        <p:spPr>
          <a:xfrm>
            <a:off x="152400" y="2970824"/>
            <a:ext cx="6120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Optimal Cluster Number Determination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Evaluation Process: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Systematically evaluated K=2 to K=10 clusters using multiple metrics.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C520DF-3D35-AF15-9AE5-E73B6187A906}"/>
              </a:ext>
            </a:extLst>
          </p:cNvPr>
          <p:cNvSpPr txBox="1"/>
          <p:nvPr/>
        </p:nvSpPr>
        <p:spPr>
          <a:xfrm>
            <a:off x="426528" y="3993093"/>
            <a:ext cx="61204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Evaluation Metrics: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Inertia (WCSS):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Measures cluster compactness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Silhouette Score: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Measures cohesion &amp; separation (higher = better)</a:t>
            </a:r>
          </a:p>
          <a:p>
            <a:pPr>
              <a:buFont typeface="+mj-lt"/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Davies-Bouldin Index: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Measures cluster similarity (lower = better)</a:t>
            </a:r>
          </a:p>
          <a:p>
            <a:pPr>
              <a:buFont typeface="+mj-lt"/>
              <a:buAutoNum type="arabicPeriod"/>
            </a:pPr>
            <a:r>
              <a:rPr lang="en-IN" sz="2000" b="1" dirty="0" err="1">
                <a:solidFill>
                  <a:schemeClr val="tx2"/>
                </a:solidFill>
                <a:latin typeface="+mn-lt"/>
              </a:rPr>
              <a:t>Calinski-Harabasz</a:t>
            </a:r>
            <a:r>
              <a:rPr lang="en-IN" sz="2000" b="1" dirty="0">
                <a:solidFill>
                  <a:schemeClr val="tx2"/>
                </a:solidFill>
                <a:latin typeface="+mn-lt"/>
              </a:rPr>
              <a:t> Score: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Variance ratio (higher = better)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AA5C129-81C1-7BFE-0C2A-323D4825E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35277"/>
            <a:ext cx="5511682" cy="33477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935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8176F-5262-6338-DC1C-8E363BDB3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E350A5-4AF3-4203-ACCB-8B3B336437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8408"/>
            <a:ext cx="10937576" cy="44334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D712D5-57DB-D948-F251-DF873F85B6C3}"/>
              </a:ext>
            </a:extLst>
          </p:cNvPr>
          <p:cNvSpPr txBox="1"/>
          <p:nvPr/>
        </p:nvSpPr>
        <p:spPr>
          <a:xfrm>
            <a:off x="762000" y="4800600"/>
            <a:ext cx="4953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Optimal Selection: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K = 4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selected based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Silhouette score peak/plateau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Elbow point in inertia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Business interpretability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Balance between granularity and actionability</a:t>
            </a:r>
          </a:p>
        </p:txBody>
      </p:sp>
    </p:spTree>
    <p:extLst>
      <p:ext uri="{BB962C8B-B14F-4D97-AF65-F5344CB8AC3E}">
        <p14:creationId xmlns:p14="http://schemas.microsoft.com/office/powerpoint/2010/main" val="1928452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184B-12A3-676D-A989-0D2039B0B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4B6D8F-83D3-7570-1F1D-42546F27595A}"/>
              </a:ext>
            </a:extLst>
          </p:cNvPr>
          <p:cNvSpPr txBox="1"/>
          <p:nvPr/>
        </p:nvSpPr>
        <p:spPr>
          <a:xfrm>
            <a:off x="3474" y="95504"/>
            <a:ext cx="12112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latin typeface="+mj-lt"/>
              </a:rPr>
              <a:t>FINAL CLUSTERING 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751E2-5072-C016-075B-77EF56B2A441}"/>
              </a:ext>
            </a:extLst>
          </p:cNvPr>
          <p:cNvSpPr txBox="1"/>
          <p:nvPr/>
        </p:nvSpPr>
        <p:spPr>
          <a:xfrm>
            <a:off x="76200" y="577913"/>
            <a:ext cx="6120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Three Algorithms Implemented: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DCB7D-7F34-62B7-0E5A-E8C25D4E788E}"/>
              </a:ext>
            </a:extLst>
          </p:cNvPr>
          <p:cNvSpPr txBox="1"/>
          <p:nvPr/>
        </p:nvSpPr>
        <p:spPr>
          <a:xfrm>
            <a:off x="53196" y="842201"/>
            <a:ext cx="6124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1. K-Means Clustering (Selected):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8A7A93-4F9F-80B0-59C4-21A6C700A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808905"/>
            <a:ext cx="7353117" cy="18051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91FC51-EE63-2605-8BC4-F35F9D8880B2}"/>
              </a:ext>
            </a:extLst>
          </p:cNvPr>
          <p:cNvSpPr txBox="1"/>
          <p:nvPr/>
        </p:nvSpPr>
        <p:spPr>
          <a:xfrm>
            <a:off x="152400" y="2515323"/>
            <a:ext cx="6124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2. Hierarchical Clustering: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00FDA4-BA93-1745-796A-2162271BD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975" y="2751701"/>
            <a:ext cx="7467600" cy="198375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0EA9A95-695A-5A7F-3829-205F2E7D679D}"/>
              </a:ext>
            </a:extLst>
          </p:cNvPr>
          <p:cNvSpPr txBox="1"/>
          <p:nvPr/>
        </p:nvSpPr>
        <p:spPr>
          <a:xfrm>
            <a:off x="53196" y="4562716"/>
            <a:ext cx="6124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3. DBSCAN (Outlier Detection):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2DA9CC-233F-E9C6-37E7-33DB92886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585" y="4908193"/>
            <a:ext cx="8256381" cy="17349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6379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3A216-5139-CDE0-EB3A-EAC3533A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120D22F-B674-D2B1-9A9D-72018574584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</a:t>
            </a:r>
            <a:r>
              <a:rPr dirty="0" err="1"/>
              <a:t>ths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4FABE-46B9-AACD-DD56-573E79D37A5A}"/>
              </a:ext>
            </a:extLst>
          </p:cNvPr>
          <p:cNvSpPr txBox="1"/>
          <p:nvPr/>
        </p:nvSpPr>
        <p:spPr>
          <a:xfrm>
            <a:off x="33666" y="152400"/>
            <a:ext cx="6098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Final Model Selection: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K-Means chosen as final model due to highest silhouette score and business suitability.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73454-5B0B-C9F1-B602-CDCF99A72EFC}"/>
              </a:ext>
            </a:extLst>
          </p:cNvPr>
          <p:cNvSpPr txBox="1"/>
          <p:nvPr/>
        </p:nvSpPr>
        <p:spPr>
          <a:xfrm>
            <a:off x="76078" y="1377480"/>
            <a:ext cx="6107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n-lt"/>
              </a:rPr>
              <a:t>CLUSTER ANALYSIS &amp; PROFILING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08DFEE-E5BF-DECA-5D42-68AB47D18C71}"/>
              </a:ext>
            </a:extLst>
          </p:cNvPr>
          <p:cNvSpPr txBox="1"/>
          <p:nvPr/>
        </p:nvSpPr>
        <p:spPr>
          <a:xfrm>
            <a:off x="388307" y="1836209"/>
            <a:ext cx="61161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+mn-lt"/>
              </a:rPr>
              <a:t>Detailed Customer Segment Insights</a:t>
            </a:r>
          </a:p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+mn-lt"/>
              </a:rPr>
              <a:t>Cluster Profiling Results:</a:t>
            </a:r>
          </a:p>
          <a:p>
            <a:pPr>
              <a:buNone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For Each of 4 Clusters, Analyzed: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Segment size &amp; proportion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Average Recency (days since last purchase)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Average Frequency (transactions)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Average Monetary Value (£)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Loyal customer percentage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Frequent buyer percentage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Top product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Top country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5A1207-06CD-43DC-E218-433563086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3730"/>
            <a:ext cx="4038600" cy="30971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B2CBCE-2AB5-63E9-3556-C9C433B0A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775" y="3400245"/>
            <a:ext cx="4038600" cy="33554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9984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93413-B676-9146-F16D-338F1D9F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CCA0BF17-1412-07B9-7F14-6727A032E9A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10280-F436-9A41-352A-EB1DEA9201D0}"/>
              </a:ext>
            </a:extLst>
          </p:cNvPr>
          <p:cNvSpPr txBox="1"/>
          <p:nvPr/>
        </p:nvSpPr>
        <p:spPr>
          <a:xfrm>
            <a:off x="-191937" y="99460"/>
            <a:ext cx="6098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PCA 2D Visualization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2EC9FD-E28A-FEE7-0A5D-EFEB83AE36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895088"/>
            <a:ext cx="4953000" cy="47179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FA7ACBED-07CE-9B5A-3BEC-27EDD264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61" y="426353"/>
            <a:ext cx="602951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Scatter plot showing 4 distinct customer clusters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Color-coded by cluster assignment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PC1 and PC2 with explained variance percentages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46C6D-C4B0-7986-007C-D9910869A76D}"/>
              </a:ext>
            </a:extLst>
          </p:cNvPr>
          <p:cNvSpPr txBox="1"/>
          <p:nvPr/>
        </p:nvSpPr>
        <p:spPr>
          <a:xfrm>
            <a:off x="5650323" y="81869"/>
            <a:ext cx="6176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Cluster Profile Heatmap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11161A-4754-E25E-785A-9230D79C52AC}"/>
              </a:ext>
            </a:extLst>
          </p:cNvPr>
          <p:cNvSpPr txBox="1"/>
          <p:nvPr/>
        </p:nvSpPr>
        <p:spPr>
          <a:xfrm>
            <a:off x="6140219" y="670948"/>
            <a:ext cx="61592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Key Observations: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Clear separation between high-value and low-value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Distinct behavioral patterns in each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Actionable profiles for targeted marketing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5EB72B-63C9-3610-EC9E-9C98BD7496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451148"/>
            <a:ext cx="5894758" cy="36503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5335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D1EB7-985A-3022-2310-7CF7469A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7E82AAF-4AF0-3D7C-3009-45CD28836CA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63848-A79C-CA8E-82B7-DB9E85FBF219}"/>
              </a:ext>
            </a:extLst>
          </p:cNvPr>
          <p:cNvSpPr txBox="1"/>
          <p:nvPr/>
        </p:nvSpPr>
        <p:spPr>
          <a:xfrm>
            <a:off x="-9222" y="95504"/>
            <a:ext cx="12201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+mj-lt"/>
              </a:rPr>
              <a:t>PREDICTIVE MODEL - HANDLING CLASS IMBALANCE</a:t>
            </a:r>
            <a:endParaRPr lang="en-IN" sz="28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78C96-8DAE-BD5E-C44A-BBE5BBC39C9D}"/>
              </a:ext>
            </a:extLst>
          </p:cNvPr>
          <p:cNvSpPr txBox="1"/>
          <p:nvPr/>
        </p:nvSpPr>
        <p:spPr>
          <a:xfrm>
            <a:off x="189781" y="1172805"/>
            <a:ext cx="65129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SMOTE Application &amp; Random Forest Training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Challenge: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Unequal cluster sizes lead to biased predictions.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D9CDF-1DE2-F083-DCF2-3596BCC94911}"/>
              </a:ext>
            </a:extLst>
          </p:cNvPr>
          <p:cNvSpPr txBox="1"/>
          <p:nvPr/>
        </p:nvSpPr>
        <p:spPr>
          <a:xfrm>
            <a:off x="189781" y="1733373"/>
            <a:ext cx="7490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Solution: 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SMOTE (Synthetic Minority Over-sampling Technique)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52280-9563-2427-FEA8-5B61B390EEAD}"/>
              </a:ext>
            </a:extLst>
          </p:cNvPr>
          <p:cNvSpPr txBox="1"/>
          <p:nvPr/>
        </p:nvSpPr>
        <p:spPr>
          <a:xfrm>
            <a:off x="189781" y="2340108"/>
            <a:ext cx="6129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n-lt"/>
              </a:rPr>
              <a:t>Implementation: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57C4F3-73E1-E47D-5458-A43513E08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6671"/>
            <a:ext cx="11172349" cy="14152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A3468D-3FEA-9B02-E119-8A3D4DBE6EF4}"/>
              </a:ext>
            </a:extLst>
          </p:cNvPr>
          <p:cNvSpPr txBox="1"/>
          <p:nvPr/>
        </p:nvSpPr>
        <p:spPr>
          <a:xfrm>
            <a:off x="205596" y="4422076"/>
            <a:ext cx="6130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n-lt"/>
              </a:rPr>
              <a:t>Random Forest Classifier: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89DF01A-7546-C0DD-5DD6-50D5A7F00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231" y="5023930"/>
            <a:ext cx="9040487" cy="8954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2862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D728-DA93-7D2F-9F67-821F3DE7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6D50BE6F-22CC-EDAE-43C1-AB713F310FC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93201-19E4-1B19-7D85-074FAEC42ADE}"/>
              </a:ext>
            </a:extLst>
          </p:cNvPr>
          <p:cNvSpPr txBox="1"/>
          <p:nvPr/>
        </p:nvSpPr>
        <p:spPr>
          <a:xfrm>
            <a:off x="152400" y="152400"/>
            <a:ext cx="1196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latin typeface="+mj-lt"/>
              </a:rPr>
              <a:t>Class Imbalance Visualization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1510F70-F3E9-9A26-7262-FFC0D9CC5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76452"/>
            <a:ext cx="10515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Left panel: Class distribution BEFORE SMOTE (imbalanced)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Right panel: Class distribution AFTER SMOTE (balanced)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Shows imbalance ratio improvement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BEC834-63C4-440F-2A0E-E824BF3FB7A8}"/>
              </a:ext>
            </a:extLst>
          </p:cNvPr>
          <p:cNvSpPr txBox="1"/>
          <p:nvPr/>
        </p:nvSpPr>
        <p:spPr>
          <a:xfrm>
            <a:off x="152400" y="1767010"/>
            <a:ext cx="762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SMOTE Results: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Before: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Imbalance ratio 54.92:1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After: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Imbalance ratio 1.00:1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Training samples: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3,302 → 10,764 (synthetic samples added)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7E73BC-7E7C-E6B6-A9D6-7E01D9ED58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415" y="3182276"/>
            <a:ext cx="9937369" cy="348738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5060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11BD-2493-3B3A-DE1F-CE9ED93E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E1386CD-9FEC-859D-F0CF-36610FC141A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A09E3-074D-7CC2-25E0-7C85462CE37A}"/>
              </a:ext>
            </a:extLst>
          </p:cNvPr>
          <p:cNvSpPr txBox="1"/>
          <p:nvPr/>
        </p:nvSpPr>
        <p:spPr>
          <a:xfrm>
            <a:off x="-8028" y="95504"/>
            <a:ext cx="12200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MODEL PERFORMANCE &amp; EVALUATION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3F4514-A9A6-E7DA-F369-0684AE3E00A9}"/>
              </a:ext>
            </a:extLst>
          </p:cNvPr>
          <p:cNvSpPr txBox="1"/>
          <p:nvPr/>
        </p:nvSpPr>
        <p:spPr>
          <a:xfrm>
            <a:off x="152400" y="725195"/>
            <a:ext cx="61290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Classification Metrics &amp; Prediction Quality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Overall Performance: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Test Accuracy: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98%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Cross-Validation Mean: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0.9850  (±0.0063)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ROC-AUC Score (OVR):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0.9994219338314996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E1FA29-D687-7E36-62E3-F5CAE578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419706"/>
            <a:ext cx="6471718" cy="39925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6248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BF17-5D0C-C778-1A3A-D114DDA35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9A23DA13-CF21-A636-16A8-8316AFFF17D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A46D-631B-6FCE-63D4-D7B3B7031DB6}"/>
              </a:ext>
            </a:extLst>
          </p:cNvPr>
          <p:cNvSpPr txBox="1"/>
          <p:nvPr/>
        </p:nvSpPr>
        <p:spPr>
          <a:xfrm>
            <a:off x="152400" y="152400"/>
            <a:ext cx="1188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Confusion Matrix Heatmap 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8BFD1C2-555E-AB56-CF92-8268AC796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38609"/>
            <a:ext cx="9906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Shows prediction accuracy per cluster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Strong diagonal indicates correct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Minimal off-diagonal misclassifications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2FDD4D-5CDD-77E3-77C2-8D24C883D9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447800"/>
            <a:ext cx="5715000" cy="45872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6465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5FFE-80AC-FDD3-044A-F88F631D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2EFCB83-AC9D-C9CB-43B9-DA8D374BD5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305F3-CC75-80C2-BAE9-72AA4599B15B}"/>
              </a:ext>
            </a:extLst>
          </p:cNvPr>
          <p:cNvSpPr txBox="1"/>
          <p:nvPr/>
        </p:nvSpPr>
        <p:spPr>
          <a:xfrm>
            <a:off x="152400" y="95504"/>
            <a:ext cx="1203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latin typeface="+mj-lt"/>
              </a:rPr>
              <a:t>Feature Importance Chart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4471C-1512-CC8F-6F0F-1950CDD6E2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683" y="1134564"/>
            <a:ext cx="5813702" cy="46266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1D03FE-CB91-3551-30B8-574544BEF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53422"/>
            <a:ext cx="5182633" cy="37363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29339FFC-14C1-07A7-34B8-6E33F1ECB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94" y="504475"/>
            <a:ext cx="453030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ReturnRate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56.90%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(By far the strongest predictor)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MonetaryAvg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10.73%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MonetaryTotal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9.26%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743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303D-6BD5-6A51-97B9-105F6C009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33D9154-7835-C13C-B020-41098C97232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74B4CB-67D4-AB06-9DFC-567000C7707A}"/>
              </a:ext>
            </a:extLst>
          </p:cNvPr>
          <p:cNvSpPr txBox="1"/>
          <p:nvPr/>
        </p:nvSpPr>
        <p:spPr>
          <a:xfrm>
            <a:off x="152400" y="76200"/>
            <a:ext cx="11954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BUSINESS </a:t>
            </a:r>
            <a:r>
              <a:rPr lang="en-IN" sz="2800" b="1" dirty="0">
                <a:solidFill>
                  <a:schemeClr val="tx2"/>
                </a:solidFill>
                <a:latin typeface="+mj-lt"/>
              </a:rPr>
              <a:t>RECOMMENDATIONS</a:t>
            </a:r>
            <a:r>
              <a:rPr lang="en-I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&amp; CLUSTER NAMING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4C2CE-64F5-9827-350F-F202F75CAB32}"/>
              </a:ext>
            </a:extLst>
          </p:cNvPr>
          <p:cNvSpPr txBox="1"/>
          <p:nvPr/>
        </p:nvSpPr>
        <p:spPr>
          <a:xfrm>
            <a:off x="152400" y="723571"/>
            <a:ext cx="6098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Actionable Strategies for Each Segment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  <a:latin typeface="+mn-lt"/>
              </a:rPr>
              <a:t>Intelligent Naming System: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Based on </a:t>
            </a:r>
            <a:r>
              <a:rPr lang="en-IN" sz="2000" dirty="0" err="1">
                <a:solidFill>
                  <a:schemeClr val="tx2"/>
                </a:solidFill>
                <a:latin typeface="+mn-lt"/>
              </a:rPr>
              <a:t>behavioral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 profiles (</a:t>
            </a:r>
            <a:r>
              <a:rPr lang="en-IN" sz="2000" dirty="0" err="1">
                <a:solidFill>
                  <a:schemeClr val="tx2"/>
                </a:solidFill>
                <a:latin typeface="+mn-lt"/>
              </a:rPr>
              <a:t>MonetaryRank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IN" sz="2000" dirty="0" err="1">
                <a:solidFill>
                  <a:schemeClr val="tx2"/>
                </a:solidFill>
                <a:latin typeface="+mn-lt"/>
              </a:rPr>
              <a:t>FrequencyRank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IN" sz="2000" dirty="0" err="1">
                <a:solidFill>
                  <a:schemeClr val="tx2"/>
                </a:solidFill>
                <a:latin typeface="+mn-lt"/>
              </a:rPr>
              <a:t>RecencyRank</a:t>
            </a:r>
            <a:r>
              <a:rPr lang="en-IN" sz="2000" dirty="0">
                <a:solidFill>
                  <a:schemeClr val="tx2"/>
                </a:solidFill>
                <a:latin typeface="+mn-lt"/>
              </a:rPr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F41635-6641-5231-D982-5E954B72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31" y="1981200"/>
            <a:ext cx="5736605" cy="34289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8CBEC2-451D-72CA-6384-77899C7E3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128" y="1955321"/>
            <a:ext cx="5764986" cy="34548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3500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ECA6-DB5F-5AE2-3F41-DB385B97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9FDC02DE-5006-C34D-FFDE-DB807B1E2C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37284-6E28-6FCF-4B53-A6FB5D6600A0}"/>
              </a:ext>
            </a:extLst>
          </p:cNvPr>
          <p:cNvSpPr txBox="1"/>
          <p:nvPr/>
        </p:nvSpPr>
        <p:spPr>
          <a:xfrm>
            <a:off x="152400" y="95504"/>
            <a:ext cx="1188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/>
                </a:solidFill>
                <a:latin typeface="+mj-lt"/>
              </a:rPr>
              <a:t>MODEL PERFORMANCE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21CA1A-A458-4AC6-4DD5-C21D23DB3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838200"/>
            <a:ext cx="7315200" cy="48874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8496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E86F2-D2B3-C8DD-FBA7-990979F7F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722CEA0A-A758-A93C-6B88-71746F767AF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6654B-BAC9-A2DD-BC37-9CB3FEE0E3E7}"/>
              </a:ext>
            </a:extLst>
          </p:cNvPr>
          <p:cNvSpPr txBox="1"/>
          <p:nvPr/>
        </p:nvSpPr>
        <p:spPr>
          <a:xfrm>
            <a:off x="1982637" y="2172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2"/>
                </a:solidFill>
                <a:latin typeface="+mj-lt"/>
              </a:rPr>
              <a:t>CONCLUSION &amp; KEY TAKEAWAYS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8E120-8E63-48E8-051B-835F1E5B9DE2}"/>
              </a:ext>
            </a:extLst>
          </p:cNvPr>
          <p:cNvSpPr txBox="1"/>
          <p:nvPr/>
        </p:nvSpPr>
        <p:spPr>
          <a:xfrm>
            <a:off x="2895600" y="592577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/>
                </a:solidFill>
                <a:latin typeface="+mj-lt"/>
              </a:rPr>
              <a:t>Project Success &amp; Business 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09A6AF-9B6B-7A30-FDC5-0AE9E1DCEDF8}"/>
              </a:ext>
            </a:extLst>
          </p:cNvPr>
          <p:cNvSpPr txBox="1"/>
          <p:nvPr/>
        </p:nvSpPr>
        <p:spPr>
          <a:xfrm>
            <a:off x="347095" y="1163640"/>
            <a:ext cx="52917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Technical Achievements: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✓ Successfully segmented 4,128 customers into 4 actionable groups ✓ Engineered 10 behavioral features from raw transactional data ✓ Achieved (0.9855) prediction accuracy with Random Forest ✓ Implemented robust preprocessing with SMOTE for class balance ✓ Validated model stability with cross-validation (0.9850) ✓ Created production-ready prediction pipeline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42EA9-7414-CAE1-2FBE-FA41977EFB24}"/>
              </a:ext>
            </a:extLst>
          </p:cNvPr>
          <p:cNvSpPr txBox="1"/>
          <p:nvPr/>
        </p:nvSpPr>
        <p:spPr>
          <a:xfrm>
            <a:off x="281914" y="4167570"/>
            <a:ext cx="6094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+mn-lt"/>
              </a:rPr>
              <a:t>Business Outcomes: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4869BB-A596-7895-1BA5-1BE78D49734A}"/>
              </a:ext>
            </a:extLst>
          </p:cNvPr>
          <p:cNvSpPr txBox="1"/>
          <p:nvPr/>
        </p:nvSpPr>
        <p:spPr>
          <a:xfrm>
            <a:off x="310668" y="4536902"/>
            <a:ext cx="112717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1. Customer Understanding: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Clear identification of Champions (high-value customers)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Recognition of At-Risk customers needing intervention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Understanding of Loyal customer base requiring nurturing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Awareness of Occasional buyers with growth potential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F7541E-6636-89AD-88F8-46C34C8CA1F8}"/>
              </a:ext>
            </a:extLst>
          </p:cNvPr>
          <p:cNvSpPr txBox="1"/>
          <p:nvPr/>
        </p:nvSpPr>
        <p:spPr>
          <a:xfrm>
            <a:off x="6553202" y="1121427"/>
            <a:ext cx="541091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2. ROI Potential: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Targeted Marketing: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Focus campaigns on high-value and high-frequency customer segments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Churn Prevention: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Identify customers with declining activity and high return rates for early 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Customer Retention: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Prioritize top-revenue customers to protect key revenue streams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Occasional buyer activation: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Re-engage low-frequency but high-potential customers for growth</a:t>
            </a:r>
          </a:p>
        </p:txBody>
      </p:sp>
    </p:spTree>
    <p:extLst>
      <p:ext uri="{BB962C8B-B14F-4D97-AF65-F5344CB8AC3E}">
        <p14:creationId xmlns:p14="http://schemas.microsoft.com/office/powerpoint/2010/main" val="2595235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4472-E16E-0D00-932F-B6C36492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085A362-D433-117E-3D39-9E6A9E40FC1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E00F1-0DBA-31B6-68EB-9910C972FAFC}"/>
              </a:ext>
            </a:extLst>
          </p:cNvPr>
          <p:cNvSpPr txBox="1"/>
          <p:nvPr/>
        </p:nvSpPr>
        <p:spPr>
          <a:xfrm>
            <a:off x="326484" y="264355"/>
            <a:ext cx="3411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j-lt"/>
              </a:rPr>
              <a:t>Key Learnings: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5AFAB-017E-9CC3-861A-E97248C8EDD2}"/>
              </a:ext>
            </a:extLst>
          </p:cNvPr>
          <p:cNvSpPr txBox="1"/>
          <p:nvPr/>
        </p:nvSpPr>
        <p:spPr>
          <a:xfrm>
            <a:off x="2667000" y="815334"/>
            <a:ext cx="838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1. RFM Framework Remains Powerful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Top 4 features are RFM-related, validating decades of marketing wisdom. Modern ML enhances but doesn't replace fundamental customer analytics.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2. SMOTE Critical for Imbalanced Data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Class balancing improved prediction accuracy across all segments without sacrificing majority class performance.</a:t>
            </a:r>
          </a:p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3. Optimal Granularity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Four clusters provide perfect balance—detailed enough for targeted strategies yet simple enough for practical implementation.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62B7B2-867C-DBDB-B9CB-C2D214395AD8}"/>
              </a:ext>
            </a:extLst>
          </p:cNvPr>
          <p:cNvSpPr txBox="1"/>
          <p:nvPr/>
        </p:nvSpPr>
        <p:spPr>
          <a:xfrm>
            <a:off x="326484" y="3244334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+mn-lt"/>
              </a:rPr>
              <a:t>Expected Business Impact: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6016FB7-9788-3214-B6DE-8666DD211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690184"/>
            <a:ext cx="704766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Customer Lifetime Value: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+20% increase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Customer Retention Rate: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+15% improvement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Average Order Value: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+10%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Marketing ROI: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+30% improvement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Churn Rate: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 -25% reduction </a:t>
            </a:r>
          </a:p>
        </p:txBody>
      </p:sp>
    </p:spTree>
    <p:extLst>
      <p:ext uri="{BB962C8B-B14F-4D97-AF65-F5344CB8AC3E}">
        <p14:creationId xmlns:p14="http://schemas.microsoft.com/office/powerpoint/2010/main" val="581715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ED48E-68CF-D1E3-402B-C8EF86A05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022E8A2C-0371-544B-DC1F-14E931E94BB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D8EB6-84ED-B1BD-4494-B82B3BEA9FDE}"/>
              </a:ext>
            </a:extLst>
          </p:cNvPr>
          <p:cNvSpPr txBox="1"/>
          <p:nvPr/>
        </p:nvSpPr>
        <p:spPr>
          <a:xfrm>
            <a:off x="381000" y="258604"/>
            <a:ext cx="11506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Final Statement:</a:t>
            </a:r>
            <a:r>
              <a:rPr lang="en-US" sz="2000" dirty="0">
                <a:solidFill>
                  <a:schemeClr val="tx2"/>
                </a:solidFill>
                <a:latin typeface="+mn-lt"/>
              </a:rPr>
              <a:t> This customer segmentation system transforms anonymous transaction data into actionable customer intelligence, enabling businesses to deliver personalized experiences that drive loyalty, increase revenue, and create sustainable competitive advantages.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65110-B2EF-4C1D-3A24-4AB51D76253D}"/>
              </a:ext>
            </a:extLst>
          </p:cNvPr>
          <p:cNvSpPr txBox="1"/>
          <p:nvPr/>
        </p:nvSpPr>
        <p:spPr>
          <a:xfrm>
            <a:off x="2286000" y="1295400"/>
            <a:ext cx="7467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</a:rPr>
              <a:t>🔗 Live Application Link (Hugging Face Spaces)</a:t>
            </a:r>
          </a:p>
          <a:p>
            <a:endParaRPr lang="en-US" dirty="0"/>
          </a:p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This project has been deployed as an interactive web application.</a:t>
            </a:r>
          </a:p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Reviewers can explore customer segmentation, insights, and visualizations in real time.</a:t>
            </a:r>
          </a:p>
          <a:p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👉 Access the app here: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  </a:t>
            </a:r>
            <a:r>
              <a:rPr lang="en-US" sz="2000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E-Commerce Customer Segmentation - a Hugging Face Space by KALYAN1188</a:t>
            </a:r>
            <a:endParaRPr lang="en-US" sz="2000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sz="2000" dirty="0">
                <a:solidFill>
                  <a:schemeClr val="tx2"/>
                </a:solidFill>
                <a:latin typeface="+mn-lt"/>
              </a:rPr>
              <a:t>📌 </a:t>
            </a:r>
            <a:r>
              <a:rPr lang="en-US" sz="2000" b="1" dirty="0">
                <a:solidFill>
                  <a:schemeClr val="tx2"/>
                </a:solidFill>
                <a:latin typeface="+mn-lt"/>
              </a:rPr>
              <a:t>Note:</a:t>
            </a:r>
          </a:p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• No installation required</a:t>
            </a:r>
          </a:p>
          <a:p>
            <a:r>
              <a:rPr lang="en-US" sz="2000" b="1" dirty="0">
                <a:solidFill>
                  <a:schemeClr val="tx2"/>
                </a:solidFill>
                <a:latin typeface="+mn-lt"/>
              </a:rPr>
              <a:t>• Runs directly in the browser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6B65F-6BA0-8033-C175-0746CAA2F40E}"/>
              </a:ext>
            </a:extLst>
          </p:cNvPr>
          <p:cNvSpPr txBox="1"/>
          <p:nvPr/>
        </p:nvSpPr>
        <p:spPr>
          <a:xfrm>
            <a:off x="666750" y="4975939"/>
            <a:ext cx="7943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END OF PRESENTATION</a:t>
            </a:r>
          </a:p>
          <a:p>
            <a:pPr>
              <a:buNone/>
            </a:pPr>
            <a:r>
              <a:rPr lang="en-US" sz="2000" i="1" dirty="0">
                <a:solidFill>
                  <a:schemeClr val="tx2"/>
                </a:solidFill>
                <a:latin typeface="+mn-lt"/>
              </a:rPr>
              <a:t>All code, models, and visualizations available in project repository</a:t>
            </a: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7620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50" y="3594671"/>
            <a:ext cx="373507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dirty="0"/>
              <a:t>Questions</a:t>
            </a:r>
            <a:r>
              <a:rPr sz="6000" spc="-114" dirty="0"/>
              <a:t> </a:t>
            </a:r>
            <a:r>
              <a:rPr sz="6000" spc="-50" dirty="0"/>
              <a:t>?</a:t>
            </a:r>
            <a:endParaRPr sz="600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7345" y="2405443"/>
            <a:ext cx="388112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600" dirty="0">
                <a:solidFill>
                  <a:srgbClr val="FFFFFF"/>
                </a:solidFill>
              </a:rPr>
              <a:t>Thank</a:t>
            </a:r>
            <a:r>
              <a:rPr sz="6600" spc="-110" dirty="0">
                <a:solidFill>
                  <a:srgbClr val="FFFFFF"/>
                </a:solidFill>
              </a:rPr>
              <a:t> </a:t>
            </a:r>
            <a:r>
              <a:rPr sz="6600" spc="-470" dirty="0">
                <a:solidFill>
                  <a:srgbClr val="FFFFFF"/>
                </a:solidFill>
              </a:rPr>
              <a:t>Y</a:t>
            </a:r>
            <a:r>
              <a:rPr sz="6600" spc="15" dirty="0">
                <a:solidFill>
                  <a:srgbClr val="FFFFFF"/>
                </a:solidFill>
              </a:rPr>
              <a:t>o</a:t>
            </a:r>
            <a:r>
              <a:rPr sz="6600" spc="20" dirty="0">
                <a:solidFill>
                  <a:srgbClr val="FFFFFF"/>
                </a:solidFill>
              </a:rPr>
              <a:t>u</a:t>
            </a:r>
            <a:r>
              <a:rPr sz="6600" spc="40" dirty="0">
                <a:solidFill>
                  <a:srgbClr val="FFFFFF"/>
                </a:solidFill>
              </a:rPr>
              <a:t>!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</TotalTime>
  <Words>2512</Words>
  <Application>Microsoft Office PowerPoint</Application>
  <PresentationFormat>Widescreen</PresentationFormat>
  <Paragraphs>301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Rockwell</vt:lpstr>
      <vt:lpstr>Office Theme</vt:lpstr>
      <vt:lpstr>PowerPoint Presentation</vt:lpstr>
      <vt:lpstr>Project Objective: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Kalyan</dc:creator>
  <cp:lastModifiedBy>sai kalyan</cp:lastModifiedBy>
  <cp:revision>12</cp:revision>
  <dcterms:created xsi:type="dcterms:W3CDTF">2025-12-27T15:08:06Z</dcterms:created>
  <dcterms:modified xsi:type="dcterms:W3CDTF">2025-12-28T14:29:03Z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2025-12-13T00:00:00Z</vt:filetime>
  </property>
  <property fmtid="{D5CDD505-2E9C-101B-9397-08002B2CF9AE}" pid="3" name="LastSaved">
    <vt:filetime>2025-12-27T00:00:00Z</vt:filetime>
  </property>
</Properties>
</file>